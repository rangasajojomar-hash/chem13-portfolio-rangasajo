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Sensei" charset="1" panose="00000500000000000000"/>
      <p:regular r:id="rId16"/>
    </p:embeddedFont>
    <p:embeddedFont>
      <p:font typeface="Arimo Bold" charset="1" panose="020B07040202020202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Relationship Id="rId3" Target="../media/image25.png" Type="http://schemas.openxmlformats.org/officeDocument/2006/relationships/image"/><Relationship Id="rId4" Target="../media/image26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Relationship Id="rId3" Target="../media/image28.png" Type="http://schemas.openxmlformats.org/officeDocument/2006/relationships/image"/><Relationship Id="rId4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1 - Propane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3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8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9" id="29"/>
          <p:cNvSpPr/>
          <p:nvPr/>
        </p:nvSpPr>
        <p:spPr>
          <a:xfrm flipH="false" flipV="false" rot="0">
            <a:off x="11004179" y="2209529"/>
            <a:ext cx="4266902" cy="2319653"/>
          </a:xfrm>
          <a:custGeom>
            <a:avLst/>
            <a:gdLst/>
            <a:ahLst/>
            <a:cxnLst/>
            <a:rect r="r" b="b" t="t" l="l"/>
            <a:pathLst>
              <a:path h="2319653" w="4266902">
                <a:moveTo>
                  <a:pt x="0" y="0"/>
                </a:moveTo>
                <a:lnTo>
                  <a:pt x="4266903" y="0"/>
                </a:lnTo>
                <a:lnTo>
                  <a:pt x="4266903" y="2319652"/>
                </a:lnTo>
                <a:lnTo>
                  <a:pt x="0" y="23196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972" r="0" b="-41972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1471882" y="6476299"/>
            <a:ext cx="3331498" cy="1199339"/>
          </a:xfrm>
          <a:custGeom>
            <a:avLst/>
            <a:gdLst/>
            <a:ahLst/>
            <a:cxnLst/>
            <a:rect r="r" b="b" t="t" l="l"/>
            <a:pathLst>
              <a:path h="1199339" w="3331498">
                <a:moveTo>
                  <a:pt x="0" y="0"/>
                </a:moveTo>
                <a:lnTo>
                  <a:pt x="3331497" y="0"/>
                </a:lnTo>
                <a:lnTo>
                  <a:pt x="3331497" y="1199339"/>
                </a:lnTo>
                <a:lnTo>
                  <a:pt x="0" y="11993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2 - Ethanol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6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OH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047987" y="2220137"/>
            <a:ext cx="4179288" cy="2298437"/>
          </a:xfrm>
          <a:custGeom>
            <a:avLst/>
            <a:gdLst/>
            <a:ahLst/>
            <a:cxnLst/>
            <a:rect r="r" b="b" t="t" l="l"/>
            <a:pathLst>
              <a:path h="2298437" w="4179288">
                <a:moveTo>
                  <a:pt x="0" y="0"/>
                </a:moveTo>
                <a:lnTo>
                  <a:pt x="4179287" y="0"/>
                </a:lnTo>
                <a:lnTo>
                  <a:pt x="4179287" y="2298436"/>
                </a:lnTo>
                <a:lnTo>
                  <a:pt x="0" y="22984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0915" r="0" b="-40915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444230" y="6395870"/>
            <a:ext cx="3783045" cy="1360196"/>
          </a:xfrm>
          <a:custGeom>
            <a:avLst/>
            <a:gdLst/>
            <a:ahLst/>
            <a:cxnLst/>
            <a:rect r="r" b="b" t="t" l="l"/>
            <a:pathLst>
              <a:path h="1360196" w="3783045">
                <a:moveTo>
                  <a:pt x="0" y="0"/>
                </a:moveTo>
                <a:lnTo>
                  <a:pt x="3783044" y="0"/>
                </a:lnTo>
                <a:lnTo>
                  <a:pt x="3783044" y="1360196"/>
                </a:lnTo>
                <a:lnTo>
                  <a:pt x="0" y="13601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3 - Acetone/propan-2-one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3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6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024714" y="2208897"/>
            <a:ext cx="4225834" cy="2320916"/>
          </a:xfrm>
          <a:custGeom>
            <a:avLst/>
            <a:gdLst/>
            <a:ahLst/>
            <a:cxnLst/>
            <a:rect r="r" b="b" t="t" l="l"/>
            <a:pathLst>
              <a:path h="2320916" w="4225834">
                <a:moveTo>
                  <a:pt x="0" y="0"/>
                </a:moveTo>
                <a:lnTo>
                  <a:pt x="4225833" y="0"/>
                </a:lnTo>
                <a:lnTo>
                  <a:pt x="4225833" y="2320916"/>
                </a:lnTo>
                <a:lnTo>
                  <a:pt x="0" y="23209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1038" r="0" b="-41038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130195" y="6181870"/>
            <a:ext cx="2014870" cy="1788197"/>
          </a:xfrm>
          <a:custGeom>
            <a:avLst/>
            <a:gdLst/>
            <a:ahLst/>
            <a:cxnLst/>
            <a:rect r="r" b="b" t="t" l="l"/>
            <a:pathLst>
              <a:path h="1788197" w="2014870">
                <a:moveTo>
                  <a:pt x="0" y="0"/>
                </a:moveTo>
                <a:lnTo>
                  <a:pt x="2014871" y="0"/>
                </a:lnTo>
                <a:lnTo>
                  <a:pt x="2014871" y="1788197"/>
                </a:lnTo>
                <a:lnTo>
                  <a:pt x="0" y="178819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4 - Acetic Acid/Ethanoic Acid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4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COOH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967014" y="2215863"/>
            <a:ext cx="4341232" cy="2306985"/>
          </a:xfrm>
          <a:custGeom>
            <a:avLst/>
            <a:gdLst/>
            <a:ahLst/>
            <a:cxnLst/>
            <a:rect r="r" b="b" t="t" l="l"/>
            <a:pathLst>
              <a:path h="2306985" w="4341232">
                <a:moveTo>
                  <a:pt x="0" y="0"/>
                </a:moveTo>
                <a:lnTo>
                  <a:pt x="4341232" y="0"/>
                </a:lnTo>
                <a:lnTo>
                  <a:pt x="4341232" y="2306984"/>
                </a:lnTo>
                <a:lnTo>
                  <a:pt x="0" y="23069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4088" r="0" b="-44088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757026" y="6033172"/>
            <a:ext cx="2761208" cy="2085593"/>
          </a:xfrm>
          <a:custGeom>
            <a:avLst/>
            <a:gdLst/>
            <a:ahLst/>
            <a:cxnLst/>
            <a:rect r="r" b="b" t="t" l="l"/>
            <a:pathLst>
              <a:path h="2085593" w="2761208">
                <a:moveTo>
                  <a:pt x="0" y="0"/>
                </a:moveTo>
                <a:lnTo>
                  <a:pt x="2761209" y="0"/>
                </a:lnTo>
                <a:lnTo>
                  <a:pt x="2761209" y="2085593"/>
                </a:lnTo>
                <a:lnTo>
                  <a:pt x="0" y="20855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5 - Ethyl Acetate/Ethyl Ethanoate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4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8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COOCH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942349" y="2200484"/>
            <a:ext cx="4390562" cy="2337743"/>
          </a:xfrm>
          <a:custGeom>
            <a:avLst/>
            <a:gdLst/>
            <a:ahLst/>
            <a:cxnLst/>
            <a:rect r="r" b="b" t="t" l="l"/>
            <a:pathLst>
              <a:path h="2337743" w="4390562">
                <a:moveTo>
                  <a:pt x="0" y="0"/>
                </a:moveTo>
                <a:lnTo>
                  <a:pt x="4390563" y="0"/>
                </a:lnTo>
                <a:lnTo>
                  <a:pt x="4390563" y="2337742"/>
                </a:lnTo>
                <a:lnTo>
                  <a:pt x="0" y="23377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3906" r="0" b="-4390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138619" y="5993171"/>
            <a:ext cx="3998023" cy="2165596"/>
          </a:xfrm>
          <a:custGeom>
            <a:avLst/>
            <a:gdLst/>
            <a:ahLst/>
            <a:cxnLst/>
            <a:rect r="r" b="b" t="t" l="l"/>
            <a:pathLst>
              <a:path h="2165596" w="3998023">
                <a:moveTo>
                  <a:pt x="0" y="0"/>
                </a:moveTo>
                <a:lnTo>
                  <a:pt x="3998023" y="0"/>
                </a:lnTo>
                <a:lnTo>
                  <a:pt x="3998023" y="2165595"/>
                </a:lnTo>
                <a:lnTo>
                  <a:pt x="0" y="21655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6 - Cyclohexane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6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12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)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615315" y="2142854"/>
            <a:ext cx="3044631" cy="2431697"/>
          </a:xfrm>
          <a:custGeom>
            <a:avLst/>
            <a:gdLst/>
            <a:ahLst/>
            <a:cxnLst/>
            <a:rect r="r" b="b" t="t" l="l"/>
            <a:pathLst>
              <a:path h="2431697" w="3044631">
                <a:moveTo>
                  <a:pt x="0" y="0"/>
                </a:moveTo>
                <a:lnTo>
                  <a:pt x="3044631" y="0"/>
                </a:lnTo>
                <a:lnTo>
                  <a:pt x="3044631" y="2431696"/>
                </a:lnTo>
                <a:lnTo>
                  <a:pt x="0" y="24316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2603" r="0" b="-12603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2468843" y="6033203"/>
            <a:ext cx="1821842" cy="2085530"/>
          </a:xfrm>
          <a:custGeom>
            <a:avLst/>
            <a:gdLst/>
            <a:ahLst/>
            <a:cxnLst/>
            <a:rect r="r" b="b" t="t" l="l"/>
            <a:pathLst>
              <a:path h="2085530" w="1821842">
                <a:moveTo>
                  <a:pt x="0" y="0"/>
                </a:moveTo>
                <a:lnTo>
                  <a:pt x="1821842" y="0"/>
                </a:lnTo>
                <a:lnTo>
                  <a:pt x="1821842" y="2085530"/>
                </a:lnTo>
                <a:lnTo>
                  <a:pt x="0" y="208553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7 - Cyclohexanone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6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10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(CH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)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5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301445" y="6018771"/>
            <a:ext cx="3672370" cy="2114395"/>
          </a:xfrm>
          <a:custGeom>
            <a:avLst/>
            <a:gdLst/>
            <a:ahLst/>
            <a:cxnLst/>
            <a:rect r="r" b="b" t="t" l="l"/>
            <a:pathLst>
              <a:path h="2114395" w="3672370">
                <a:moveTo>
                  <a:pt x="0" y="0"/>
                </a:moveTo>
                <a:lnTo>
                  <a:pt x="3672371" y="0"/>
                </a:lnTo>
                <a:lnTo>
                  <a:pt x="3672371" y="2114395"/>
                </a:lnTo>
                <a:lnTo>
                  <a:pt x="0" y="21143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699651" y="2182499"/>
            <a:ext cx="2875959" cy="2373711"/>
          </a:xfrm>
          <a:custGeom>
            <a:avLst/>
            <a:gdLst/>
            <a:ahLst/>
            <a:cxnLst/>
            <a:rect r="r" b="b" t="t" l="l"/>
            <a:pathLst>
              <a:path h="2373711" w="2875959">
                <a:moveTo>
                  <a:pt x="0" y="0"/>
                </a:moveTo>
                <a:lnTo>
                  <a:pt x="2875959" y="0"/>
                </a:lnTo>
                <a:lnTo>
                  <a:pt x="2875959" y="2373712"/>
                </a:lnTo>
                <a:lnTo>
                  <a:pt x="0" y="23737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0579" r="0" b="-10579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8 - Acetaminophen/Paracetamol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8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9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NO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NO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CONHC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OH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0572454" y="5906617"/>
            <a:ext cx="5130354" cy="2378018"/>
          </a:xfrm>
          <a:custGeom>
            <a:avLst/>
            <a:gdLst/>
            <a:ahLst/>
            <a:cxnLst/>
            <a:rect r="r" b="b" t="t" l="l"/>
            <a:pathLst>
              <a:path h="2378018" w="5130354">
                <a:moveTo>
                  <a:pt x="0" y="0"/>
                </a:moveTo>
                <a:lnTo>
                  <a:pt x="5130353" y="0"/>
                </a:lnTo>
                <a:lnTo>
                  <a:pt x="5130353" y="2378018"/>
                </a:lnTo>
                <a:lnTo>
                  <a:pt x="0" y="237801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0704924" y="2216039"/>
            <a:ext cx="4865413" cy="2360768"/>
          </a:xfrm>
          <a:custGeom>
            <a:avLst/>
            <a:gdLst/>
            <a:ahLst/>
            <a:cxnLst/>
            <a:rect r="r" b="b" t="t" l="l"/>
            <a:pathLst>
              <a:path h="2360768" w="4865413">
                <a:moveTo>
                  <a:pt x="0" y="0"/>
                </a:moveTo>
                <a:lnTo>
                  <a:pt x="4865413" y="0"/>
                </a:lnTo>
                <a:lnTo>
                  <a:pt x="4865413" y="2360767"/>
                </a:lnTo>
                <a:lnTo>
                  <a:pt x="0" y="23607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53047" r="0" b="-53047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9 - Aspirin/Acetylsalicylic Acid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9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8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4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9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33350"/>
              <a:ext cx="1864815" cy="7693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8399"/>
                </a:lnSpc>
              </a:pP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COOC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b="true" sz="59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COOH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620007" y="2142854"/>
            <a:ext cx="3035246" cy="2350602"/>
          </a:xfrm>
          <a:custGeom>
            <a:avLst/>
            <a:gdLst/>
            <a:ahLst/>
            <a:cxnLst/>
            <a:rect r="r" b="b" t="t" l="l"/>
            <a:pathLst>
              <a:path h="2350602" w="3035246">
                <a:moveTo>
                  <a:pt x="0" y="0"/>
                </a:moveTo>
                <a:lnTo>
                  <a:pt x="3035247" y="0"/>
                </a:lnTo>
                <a:lnTo>
                  <a:pt x="3035247" y="2350602"/>
                </a:lnTo>
                <a:lnTo>
                  <a:pt x="0" y="23506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4563" r="0" b="-14563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467856" y="5823557"/>
            <a:ext cx="3339548" cy="2459862"/>
          </a:xfrm>
          <a:custGeom>
            <a:avLst/>
            <a:gdLst/>
            <a:ahLst/>
            <a:cxnLst/>
            <a:rect r="r" b="b" t="t" l="l"/>
            <a:pathLst>
              <a:path h="2459862" w="3339548">
                <a:moveTo>
                  <a:pt x="0" y="0"/>
                </a:moveTo>
                <a:lnTo>
                  <a:pt x="3339549" y="0"/>
                </a:lnTo>
                <a:lnTo>
                  <a:pt x="3339549" y="2459863"/>
                </a:lnTo>
                <a:lnTo>
                  <a:pt x="0" y="245986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94B9FF">
                <a:alpha val="100000"/>
              </a:srgbClr>
            </a:gs>
            <a:gs pos="100000">
              <a:srgbClr val="E894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9888" y="1371401"/>
            <a:ext cx="7734847" cy="3414955"/>
            <a:chOff x="0" y="0"/>
            <a:chExt cx="2037161" cy="89941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270207" y="5184150"/>
            <a:ext cx="7734847" cy="3414955"/>
            <a:chOff x="0" y="0"/>
            <a:chExt cx="2037161" cy="899412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9888" y="5143500"/>
            <a:ext cx="7734847" cy="3414955"/>
            <a:chOff x="0" y="0"/>
            <a:chExt cx="2037161" cy="89941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270207" y="1388195"/>
            <a:ext cx="7734847" cy="3414955"/>
            <a:chOff x="0" y="0"/>
            <a:chExt cx="2037161" cy="89941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037161" cy="899412"/>
            </a:xfrm>
            <a:custGeom>
              <a:avLst/>
              <a:gdLst/>
              <a:ahLst/>
              <a:cxnLst/>
              <a:rect r="r" b="b" t="t" l="l"/>
              <a:pathLst>
                <a:path h="899412" w="2037161">
                  <a:moveTo>
                    <a:pt x="0" y="0"/>
                  </a:moveTo>
                  <a:lnTo>
                    <a:pt x="2037161" y="0"/>
                  </a:lnTo>
                  <a:lnTo>
                    <a:pt x="2037161" y="899412"/>
                  </a:lnTo>
                  <a:lnTo>
                    <a:pt x="0" y="899412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037161" cy="9375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89900" y="111526"/>
            <a:ext cx="15976354" cy="1064569"/>
            <a:chOff x="0" y="0"/>
            <a:chExt cx="4207764" cy="2803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07764" cy="280380"/>
            </a:xfrm>
            <a:custGeom>
              <a:avLst/>
              <a:gdLst/>
              <a:ahLst/>
              <a:cxnLst/>
              <a:rect r="r" b="b" t="t" l="l"/>
              <a:pathLst>
                <a:path h="280380" w="4207764">
                  <a:moveTo>
                    <a:pt x="0" y="0"/>
                  </a:moveTo>
                  <a:lnTo>
                    <a:pt x="4207764" y="0"/>
                  </a:lnTo>
                  <a:lnTo>
                    <a:pt x="4207764" y="280380"/>
                  </a:lnTo>
                  <a:lnTo>
                    <a:pt x="0" y="280380"/>
                  </a:lnTo>
                  <a:close/>
                </a:path>
              </a:pathLst>
            </a:custGeom>
            <a:solidFill>
              <a:srgbClr val="E7AFD8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4207764" cy="38515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7139"/>
                </a:lnSpc>
                <a:spcBef>
                  <a:spcPct val="0"/>
                </a:spcBef>
              </a:pP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CARD NO. 10 - Caffeine (C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8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H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10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N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4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O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2</a:t>
              </a:r>
              <a:r>
                <a:rPr lang="en-US" sz="50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)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69888" y="8799131"/>
            <a:ext cx="15835166" cy="1245544"/>
            <a:chOff x="0" y="0"/>
            <a:chExt cx="4170579" cy="32804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170579" cy="328044"/>
            </a:xfrm>
            <a:custGeom>
              <a:avLst/>
              <a:gdLst/>
              <a:ahLst/>
              <a:cxnLst/>
              <a:rect r="r" b="b" t="t" l="l"/>
              <a:pathLst>
                <a:path h="328044" w="4170579">
                  <a:moveTo>
                    <a:pt x="0" y="0"/>
                  </a:moveTo>
                  <a:lnTo>
                    <a:pt x="4170579" y="0"/>
                  </a:lnTo>
                  <a:lnTo>
                    <a:pt x="4170579" y="328044"/>
                  </a:lnTo>
                  <a:lnTo>
                    <a:pt x="0" y="328044"/>
                  </a:lnTo>
                  <a:close/>
                </a:path>
              </a:pathLst>
            </a:custGeom>
            <a:solidFill>
              <a:srgbClr val="97C7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170579" cy="385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199"/>
                </a:lnSpc>
              </a:pPr>
              <a:r>
                <a:rPr lang="en-US" sz="29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Verification Strip</a:t>
              </a:r>
            </a:p>
            <a:p>
              <a:pPr algn="ctr">
                <a:lnSpc>
                  <a:spcPts val="3499"/>
                </a:lnSpc>
                <a:spcBef>
                  <a:spcPct val="0"/>
                </a:spcBef>
              </a:pPr>
              <a:r>
                <a:rPr lang="en-US" sz="2499">
                  <a:solidFill>
                    <a:srgbClr val="000000"/>
                  </a:solidFill>
                  <a:latin typeface="Sensei"/>
                  <a:ea typeface="Sensei"/>
                  <a:cs typeface="Sensei"/>
                  <a:sym typeface="Sensei"/>
                </a:rPr>
                <a:t>✓Atom Count Verified       ✓Valence Checked       ✓Bond Order Checked      ✓Same Connectivity Confirmed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497076" y="2161904"/>
            <a:ext cx="7080470" cy="2414903"/>
            <a:chOff x="0" y="0"/>
            <a:chExt cx="1864815" cy="63602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61925"/>
              <a:ext cx="1864815" cy="79794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9239"/>
                </a:lnSpc>
              </a:pP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8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10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O</a:t>
              </a:r>
              <a:r>
                <a:rPr lang="en-US" b="true" sz="65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97396" y="5868517"/>
            <a:ext cx="7080470" cy="2414903"/>
            <a:chOff x="0" y="0"/>
            <a:chExt cx="1864815" cy="6360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597396" y="2161904"/>
            <a:ext cx="7080470" cy="2414903"/>
            <a:chOff x="0" y="0"/>
            <a:chExt cx="1864815" cy="63602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864815" cy="6741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97076" y="5868517"/>
            <a:ext cx="7080470" cy="2414903"/>
            <a:chOff x="0" y="0"/>
            <a:chExt cx="1864815" cy="636024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864815" cy="636024"/>
            </a:xfrm>
            <a:custGeom>
              <a:avLst/>
              <a:gdLst/>
              <a:ahLst/>
              <a:cxnLst/>
              <a:rect r="r" b="b" t="t" l="l"/>
              <a:pathLst>
                <a:path h="636024" w="1864815">
                  <a:moveTo>
                    <a:pt x="0" y="0"/>
                  </a:moveTo>
                  <a:lnTo>
                    <a:pt x="1864815" y="0"/>
                  </a:lnTo>
                  <a:lnTo>
                    <a:pt x="1864815" y="636024"/>
                  </a:lnTo>
                  <a:lnTo>
                    <a:pt x="0" y="636024"/>
                  </a:lnTo>
                  <a:close/>
                </a:path>
              </a:pathLst>
            </a:custGeom>
            <a:solidFill>
              <a:srgbClr val="C8D1D9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14300"/>
              <a:ext cx="1864815" cy="75032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6859"/>
                </a:lnSpc>
              </a:pP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CH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NC(=O)N(CH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)C(=O)C=C1N(CH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3</a:t>
              </a:r>
              <a:r>
                <a:rPr lang="en-US" b="true" sz="4899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)CH=N1</a:t>
              </a: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1711584" y="2200306"/>
            <a:ext cx="2852093" cy="2376501"/>
          </a:xfrm>
          <a:custGeom>
            <a:avLst/>
            <a:gdLst/>
            <a:ahLst/>
            <a:cxnLst/>
            <a:rect r="r" b="b" t="t" l="l"/>
            <a:pathLst>
              <a:path h="2376501" w="2852093">
                <a:moveTo>
                  <a:pt x="0" y="0"/>
                </a:moveTo>
                <a:lnTo>
                  <a:pt x="2852093" y="0"/>
                </a:lnTo>
                <a:lnTo>
                  <a:pt x="2852093" y="2376500"/>
                </a:lnTo>
                <a:lnTo>
                  <a:pt x="0" y="2376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006" r="0" b="-10006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1916002" y="5909573"/>
            <a:ext cx="2443257" cy="2373847"/>
          </a:xfrm>
          <a:custGeom>
            <a:avLst/>
            <a:gdLst/>
            <a:ahLst/>
            <a:cxnLst/>
            <a:rect r="r" b="b" t="t" l="l"/>
            <a:pathLst>
              <a:path h="2373847" w="2443257">
                <a:moveTo>
                  <a:pt x="0" y="0"/>
                </a:moveTo>
                <a:lnTo>
                  <a:pt x="2443257" y="0"/>
                </a:lnTo>
                <a:lnTo>
                  <a:pt x="2443257" y="2373847"/>
                </a:lnTo>
                <a:lnTo>
                  <a:pt x="0" y="237384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4" id="34"/>
          <p:cNvSpPr txBox="true"/>
          <p:nvPr/>
        </p:nvSpPr>
        <p:spPr>
          <a:xfrm rot="0">
            <a:off x="2213544" y="1462104"/>
            <a:ext cx="5647534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Molecular Formula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96546" y="5187767"/>
            <a:ext cx="8081531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Condensed Structural Formula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82886" y="5187767"/>
            <a:ext cx="5309488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Bond-Line Formula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0617436" y="1462104"/>
            <a:ext cx="5040390" cy="68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2553" indent="-426276" lvl="1">
              <a:lnSpc>
                <a:spcPts val="5528"/>
              </a:lnSpc>
              <a:buAutoNum type="arabicPeriod" startAt="1"/>
            </a:pPr>
            <a:r>
              <a:rPr lang="en-US" sz="3948">
                <a:solidFill>
                  <a:srgbClr val="000000"/>
                </a:solidFill>
                <a:latin typeface="Sensei"/>
                <a:ea typeface="Sensei"/>
                <a:cs typeface="Sensei"/>
                <a:sym typeface="Sensei"/>
              </a:rPr>
              <a:t>Lewis Structure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DAHYFyv9qio</dc:identifier>
  <dcterms:modified xsi:type="dcterms:W3CDTF">2011-08-01T06:04:30Z</dcterms:modified>
  <cp:revision>1</cp:revision>
  <dc:title>Heading</dc:title>
</cp:coreProperties>
</file>